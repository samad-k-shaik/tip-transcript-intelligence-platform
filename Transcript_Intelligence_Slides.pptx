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8534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  <a:latin typeface="Arial"/>
              </a:defRPr>
            </a:pPr>
            <a:r>
              <a:t>AI-POWERED INGESTION &amp; HARMONIZATION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8FAFC"/>
                </a:solidFill>
                <a:latin typeface="Arial"/>
              </a:defRPr>
            </a:pPr>
            <a:r>
              <a:t>Transcript Intelligence Platform (TIP)</a:t>
            </a:r>
          </a:p>
          <a:p>
            <a:pPr algn="ctr">
              <a:spcBef>
                <a:spcPts val="1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Scaling conversational analytics across fragmented call channels into business-ready operational assets.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931920"/>
            <a:ext cx="85340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FAFC"/>
                </a:solidFill>
                <a:latin typeface="Arial"/>
              </a:defRPr>
            </a:pPr>
            <a:r>
              <a:t>Focus: Product &amp; Engineering Strategic Deep-Dive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6366F1"/>
                </a:solidFill>
                <a:latin typeface="Arial"/>
              </a:defRPr>
            </a:pPr>
            <a:r>
              <a:t>🧑‍💻 Engineering Leads    •    📦 Product Managers    •    🗣️ Support Leaders    •    📈 Sales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The Enterprise Conversation Gap</a:t>
            </a:r>
          </a:p>
          <a:p>
            <a:pPr>
              <a:spcBef>
                <a:spcPts val="400"/>
              </a:spcBef>
              <a:defRPr sz="900" b="1">
                <a:solidFill>
                  <a:srgbClr val="6366F1"/>
                </a:solidFill>
                <a:latin typeface="Arial"/>
              </a:defRPr>
            </a:pPr>
            <a:r>
              <a:t>TIP  |  TRANSCRIPT INTELLIGENCE PLATFORM  |  STRATEGIC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303520" cy="4572000"/>
          </a:xfrm>
          <a:prstGeom prst="roundRect">
            <a:avLst/>
          </a:prstGeom>
          <a:solidFill>
            <a:srgbClr val="161725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43F5E"/>
                </a:solidFill>
                <a:latin typeface="Arial"/>
              </a:defRPr>
            </a:pPr>
            <a:r>
              <a:t>THE ENTERPRISE FRICTION</a:t>
            </a:r>
          </a:p>
          <a:p>
            <a:pPr>
              <a:spcBef>
                <a:spcPts val="800"/>
              </a:spcBef>
              <a:spcAft>
                <a:spcPts val="20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Scattered &amp; Unstructured Data</a:t>
            </a:r>
          </a:p>
          <a:p>
            <a:pPr>
              <a:spcAft>
                <a:spcPts val="12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rPr b="1">
                <a:solidFill>
                  <a:srgbClr val="F43F5E"/>
                </a:solidFill>
              </a:rPr>
              <a:t>✕   Fragmented Silos: Transcripts are scattered across Zoom meetings, GMeet files, and support ticket repositories with disconnected storage.</a:t>
            </a:r>
          </a:p>
          <a:p>
            <a:pPr>
              <a:spcAft>
                <a:spcPts val="12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rPr b="1">
                <a:solidFill>
                  <a:srgbClr val="F43F5E"/>
                </a:solidFill>
              </a:rPr>
              <a:t>✕   Schema Divergence: No structural consistency exists. Speakers lists, timeline metadata, and output types are completely unaligned.</a:t>
            </a:r>
          </a:p>
          <a:p>
            <a:pPr>
              <a:spcAft>
                <a:spcPts val="12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rPr b="1">
                <a:solidFill>
                  <a:srgbClr val="F43F5E"/>
                </a:solidFill>
              </a:rPr>
              <a:t>✕   Scale Bottlenecks: Human analysis of 100+ transcripts takes days, resulting in delayed product improvements and missed churn indicators.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645920"/>
            <a:ext cx="5303520" cy="4572000"/>
          </a:xfrm>
          <a:prstGeom prst="roundRect">
            <a:avLst/>
          </a:prstGeom>
          <a:solidFill>
            <a:srgbClr val="16172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3855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Arial"/>
              </a:defRPr>
            </a:pPr>
            <a:r>
              <a:t>THE TIP PIPELINE</a:t>
            </a:r>
          </a:p>
          <a:p>
            <a:pPr>
              <a:spcBef>
                <a:spcPts val="800"/>
              </a:spcBef>
              <a:spcAft>
                <a:spcPts val="20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The Unified Analytics Engine</a:t>
            </a:r>
          </a:p>
          <a:p>
            <a:pPr>
              <a:spcAft>
                <a:spcPts val="12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rPr b="1">
                <a:solidFill>
                  <a:srgbClr val="10B981"/>
                </a:solidFill>
              </a:rPr>
              <a:t>✓   Recursive Ingestion: Background scanning engines seamlessly parse nested local directories and Google Cloud Storage (GCS) buckets.</a:t>
            </a:r>
          </a:p>
          <a:p>
            <a:pPr>
              <a:spcAft>
                <a:spcPts val="12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rPr b="1">
                <a:solidFill>
                  <a:srgbClr val="10B981"/>
                </a:solidFill>
              </a:rPr>
              <a:t>✓   Automatic Harmonization: Schema normalization, speaker identity mapping, and Vertex AI (Gemini 1.5 Pro) summaries automatically enrich files.</a:t>
            </a:r>
          </a:p>
          <a:p>
            <a:pPr>
              <a:spcAft>
                <a:spcPts val="12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rPr b="1">
                <a:solidFill>
                  <a:srgbClr val="10B981"/>
                </a:solidFill>
              </a:rPr>
              <a:t>✓   Compressed Parquet Outputs: Writes high-speed, query-ready Parquet datasets ideal for instant analytics inside big-data warehouses.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Cloud-Native Ingestion Architecture</a:t>
            </a:r>
          </a:p>
          <a:p>
            <a:pPr>
              <a:spcBef>
                <a:spcPts val="400"/>
              </a:spcBef>
              <a:defRPr sz="900" b="1">
                <a:solidFill>
                  <a:srgbClr val="6366F1"/>
                </a:solidFill>
                <a:latin typeface="Arial"/>
              </a:defRPr>
            </a:pPr>
            <a:r>
              <a:t>TIP  |  TRANSCRIPT INTELLIGENCE PLATFORM  |  STRATEGIC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An automated backend processing system transforming raw conversation transcripts into query-ready analytics storage.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2011680" cy="2194560"/>
          </a:xfrm>
          <a:prstGeom prst="roundRect">
            <a:avLst/>
          </a:prstGeom>
          <a:solidFill>
            <a:srgbClr val="161725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37744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  <a:latin typeface="Arial"/>
              </a:defRPr>
            </a:pPr>
            <a:r>
              <a:t>1. Data Sources</a:t>
            </a:r>
          </a:p>
          <a:p>
            <a:pPr algn="ctr">
              <a:spcBef>
                <a:spcPts val="800"/>
              </a:spcBef>
              <a:defRPr sz="1000" b="1">
                <a:solidFill>
                  <a:srgbClr val="06B6D4"/>
                </a:solidFill>
                <a:latin typeface="Arial"/>
              </a:defRPr>
            </a:pPr>
            <a:r>
              <a:t>Local Disks / GCS</a:t>
            </a:r>
          </a:p>
          <a:p>
            <a:pPr algn="ctr">
              <a:spcBef>
                <a:spcPts val="12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Files discovered recursively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16352" y="2194560"/>
            <a:ext cx="2011680" cy="2194560"/>
          </a:xfrm>
          <a:prstGeom prst="roundRect">
            <a:avLst/>
          </a:prstGeom>
          <a:solidFill>
            <a:srgbClr val="16172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53512" y="237744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  <a:latin typeface="Arial"/>
              </a:defRPr>
            </a:pPr>
            <a:r>
              <a:t>2. Ingestion Engine</a:t>
            </a:r>
          </a:p>
          <a:p>
            <a:pPr algn="ctr">
              <a:spcBef>
                <a:spcPts val="800"/>
              </a:spcBef>
              <a:defRPr sz="1000" b="1">
                <a:solidFill>
                  <a:srgbClr val="6366F1"/>
                </a:solidFill>
                <a:latin typeface="Arial"/>
              </a:defRPr>
            </a:pPr>
            <a:r>
              <a:t>FastAPI Daemon</a:t>
            </a:r>
          </a:p>
          <a:p>
            <a:pPr algn="ctr">
              <a:spcBef>
                <a:spcPts val="12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High concurrency async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2194560"/>
            <a:ext cx="2011680" cy="2194560"/>
          </a:xfrm>
          <a:prstGeom prst="roundRect">
            <a:avLst/>
          </a:prstGeom>
          <a:solidFill>
            <a:srgbClr val="16172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21224" y="237744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  <a:latin typeface="Arial"/>
              </a:defRPr>
            </a:pPr>
            <a:r>
              <a:t>3. Harmonizer</a:t>
            </a:r>
          </a:p>
          <a:p>
            <a:pPr algn="ctr">
              <a:spcBef>
                <a:spcPts val="800"/>
              </a:spcBef>
              <a:defRPr sz="1000" b="1">
                <a:solidFill>
                  <a:srgbClr val="6366F1"/>
                </a:solidFill>
                <a:latin typeface="Arial"/>
              </a:defRPr>
            </a:pPr>
            <a:r>
              <a:t>Identity Resolver</a:t>
            </a:r>
          </a:p>
          <a:p>
            <a:pPr algn="ctr">
              <a:spcBef>
                <a:spcPts val="12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Normalizes speakers/schemas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51776" y="2194560"/>
            <a:ext cx="2011680" cy="2194560"/>
          </a:xfrm>
          <a:prstGeom prst="roundRect">
            <a:avLst/>
          </a:prstGeom>
          <a:solidFill>
            <a:srgbClr val="16172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88936" y="237744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  <a:latin typeface="Arial"/>
              </a:defRPr>
            </a:pPr>
            <a:r>
              <a:t>4. Vertex AI</a:t>
            </a:r>
          </a:p>
          <a:p>
            <a:pPr algn="ctr">
              <a:spcBef>
                <a:spcPts val="800"/>
              </a:spcBef>
              <a:defRPr sz="1000" b="1">
                <a:solidFill>
                  <a:srgbClr val="6366F1"/>
                </a:solidFill>
                <a:latin typeface="Arial"/>
              </a:defRPr>
            </a:pPr>
            <a:r>
              <a:t>Gemini 1.5 Pro</a:t>
            </a:r>
          </a:p>
          <a:p>
            <a:pPr algn="ctr">
              <a:spcBef>
                <a:spcPts val="12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Enriches summaries &amp; sentiment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19488" y="2194560"/>
            <a:ext cx="2011680" cy="2194560"/>
          </a:xfrm>
          <a:prstGeom prst="roundRect">
            <a:avLst/>
          </a:prstGeom>
          <a:solidFill>
            <a:srgbClr val="16172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56648" y="237744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  <a:latin typeface="Arial"/>
              </a:defRPr>
            </a:pPr>
            <a:r>
              <a:t>5. Analytical Output</a:t>
            </a:r>
          </a:p>
          <a:p>
            <a:pPr algn="ctr">
              <a:spcBef>
                <a:spcPts val="800"/>
              </a:spcBef>
              <a:defRPr sz="1000" b="1">
                <a:solidFill>
                  <a:srgbClr val="10B981"/>
                </a:solidFill>
                <a:latin typeface="Arial"/>
              </a:defRPr>
            </a:pPr>
            <a:r>
              <a:t>Columnar Parquet</a:t>
            </a:r>
          </a:p>
          <a:p>
            <a:pPr algn="ctr">
              <a:spcBef>
                <a:spcPts val="1200"/>
              </a:spcBef>
              <a:defRPr sz="900">
                <a:solidFill>
                  <a:srgbClr val="94A3B8"/>
                </a:solidFill>
                <a:latin typeface="Arial"/>
              </a:defRPr>
            </a:pPr>
            <a:r>
              <a:t>Ultra-efficient query layout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63440"/>
            <a:ext cx="3511296" cy="1554480"/>
          </a:xfrm>
          <a:prstGeom prst="round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663440"/>
            <a:ext cx="91440" cy="1554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846320"/>
            <a:ext cx="319125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Arial"/>
              </a:defRPr>
            </a:pPr>
            <a:r>
              <a:t>Recursive Directory Scanner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Async background daemon crawling local folders and S3/GCS objects recursively.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4256" y="4663440"/>
            <a:ext cx="3511296" cy="1554480"/>
          </a:xfrm>
          <a:prstGeom prst="round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34256" y="4663440"/>
            <a:ext cx="91440" cy="1554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2856" y="4846320"/>
            <a:ext cx="319125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Arial"/>
              </a:defRPr>
            </a:pPr>
            <a:r>
              <a:t>AI Synthesis &amp; Resolution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Non-blocking Vertex API runs parsing customer context, summaries, and tone scores safely.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9872" y="4663440"/>
            <a:ext cx="3511296" cy="1554480"/>
          </a:xfrm>
          <a:prstGeom prst="round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19872" y="4663440"/>
            <a:ext cx="91440" cy="1554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2" y="4846320"/>
            <a:ext cx="319125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Arial"/>
              </a:defRPr>
            </a:pPr>
            <a:r>
              <a:t>Columnar Data Warehouse Ready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Memory-efficient write buffers compiling output streams into compressed Parquet files.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Requirement 1: Topic &amp; Theme Categorization</a:t>
            </a:r>
          </a:p>
          <a:p>
            <a:pPr>
              <a:spcBef>
                <a:spcPts val="400"/>
              </a:spcBef>
              <a:defRPr sz="900" b="1">
                <a:solidFill>
                  <a:srgbClr val="6366F1"/>
                </a:solidFill>
                <a:latin typeface="Arial"/>
              </a:defRPr>
            </a:pPr>
            <a:r>
              <a:t>TIP  |  TRANSCRIPT INTELLIGENCE PLATFORM  |  STRATEGIC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303520" cy="4572000"/>
          </a:xfrm>
          <a:prstGeom prst="roundRect">
            <a:avLst/>
          </a:prstGeom>
          <a:solidFill>
            <a:srgbClr val="16172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Arial"/>
              </a:defRPr>
            </a:pPr>
            <a:r>
              <a:t>HYBRID AI CLASSIFICATION ENGINE</a:t>
            </a:r>
          </a:p>
          <a:p>
            <a:pPr>
              <a:spcBef>
                <a:spcPts val="600"/>
              </a:spcBef>
              <a:spcAft>
                <a:spcPts val="16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Highly Scalable &amp; Cost-Effective</a:t>
            </a:r>
          </a:p>
          <a:p>
            <a:pPr>
              <a:spcBef>
                <a:spcPts val="1000"/>
              </a:spcBef>
              <a:defRPr sz="1200" b="1">
                <a:solidFill>
                  <a:srgbClr val="06B6D4"/>
                </a:solidFill>
                <a:latin typeface="Arial"/>
              </a:defRPr>
            </a:pPr>
            <a:r>
              <a:t>Phase 1: Dynamic Discovery (Vertex AI)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Gemini 1.5 Pro performs semantic analysis on raw transcript samples to discover emerging business themes and categories dynamically.</a:t>
            </a:r>
          </a:p>
          <a:p>
            <a:pPr>
              <a:spcBef>
                <a:spcPts val="1000"/>
              </a:spcBef>
              <a:defRPr sz="1200" b="1">
                <a:solidFill>
                  <a:srgbClr val="06B6D4"/>
                </a:solidFill>
                <a:latin typeface="Arial"/>
              </a:defRPr>
            </a:pPr>
            <a:r>
              <a:t>Phase 2: Deterministic Matching (Polars Backend)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Our local regex/dictionary pipeline matches these discovered parameters across high-volume transcripts, delivering $0 in ongoing API overhead.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645920"/>
            <a:ext cx="5303520" cy="4572000"/>
          </a:xfrm>
          <a:prstGeom prst="roundRect">
            <a:avLst/>
          </a:prstGeom>
          <a:solidFill>
            <a:srgbClr val="161725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3855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AUTOMATED SCHEMAS</a:t>
            </a:r>
          </a:p>
          <a:p>
            <a:pPr>
              <a:spcBef>
                <a:spcPts val="600"/>
              </a:spcBef>
              <a:spcAft>
                <a:spcPts val="20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Identified Channels &amp; Classes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  <a:latin typeface="Arial"/>
              </a:defRPr>
            </a:pPr>
            <a:r>
              <a:t>📂  Technical Support &amp; Bug Tracking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Origin: Customer support logs • Captures latency reports, platform failure codes, and software exceptions to prioritize engineering hotfixes.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  <a:latin typeface="Arial"/>
              </a:defRPr>
            </a:pPr>
            <a:r>
              <a:t>📂  Renewal &amp; Adoption Feedback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Origin: External sales and AM logs • Compiles customer renewal status, feature expansion requests, adoption hurdles, and pricing points.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  <a:latin typeface="Arial"/>
              </a:defRPr>
            </a:pPr>
            <a:r>
              <a:t>📂  Engineering Syncs &amp; Sprint Planning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Origin: Internal technical meetings • Aggregates agile sprint boards, velocity metrics, blockers, design specs, and task assignees.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Requirement 2: Sentiment Trends &amp; Sentiment Drift</a:t>
            </a:r>
          </a:p>
          <a:p>
            <a:pPr>
              <a:spcBef>
                <a:spcPts val="400"/>
              </a:spcBef>
              <a:defRPr sz="900" b="1">
                <a:solidFill>
                  <a:srgbClr val="6366F1"/>
                </a:solidFill>
                <a:latin typeface="Arial"/>
              </a:defRPr>
            </a:pPr>
            <a:r>
              <a:t>TIP  |  TRANSCRIPT INTELLIGENCE PLATFORM  |  STRATEGIC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303520" cy="4572000"/>
          </a:xfrm>
          <a:prstGeom prst="roundRect">
            <a:avLst/>
          </a:prstGeom>
          <a:solidFill>
            <a:srgbClr val="16172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Arial"/>
              </a:defRPr>
            </a:pPr>
            <a:r>
              <a:t>TREND BEHAVIOR BY CHANNEL</a:t>
            </a:r>
          </a:p>
          <a:p>
            <a:pPr>
              <a:spcBef>
                <a:spcPts val="600"/>
              </a:spcBef>
              <a:spcAft>
                <a:spcPts val="20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Channel-Specific Analytics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  <a:latin typeface="Arial"/>
              </a:defRPr>
            </a:pPr>
            <a:r>
              <a:t>🎧  Customer Support (High Volatility)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Extremely reactive sentiment swings. Sharp drops correspond directly with critical bugs; immediate recoveries prove rapid support resolutions.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  <a:latin typeface="Arial"/>
              </a:defRPr>
            </a:pPr>
            <a:r>
              <a:t>🤝  External Accounts (Slow Wave Structures)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Smoother, high-average waves. Positive curves reflect renewal expansions, while negative gradients flag slow feature adoption friction.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  <a:latin typeface="Arial"/>
              </a:defRPr>
            </a:pPr>
            <a:r>
              <a:t>💻  Internal Engineering Syncs (Flat &amp; Consistent)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Extremely stable, slightly positive sentiment over time. Serves as a healthy team marker showing structural team alignment and zero developer blockades.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645920"/>
            <a:ext cx="5303520" cy="4572000"/>
          </a:xfrm>
          <a:prstGeom prst="roundRect">
            <a:avLst/>
          </a:prstGeom>
          <a:solidFill>
            <a:srgbClr val="161725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3855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Arial"/>
              </a:defRPr>
            </a:pPr>
            <a:r>
              <a:t>EARLY PREDICTION ALERTS</a:t>
            </a:r>
          </a:p>
          <a:p>
            <a:pPr>
              <a:spcBef>
                <a:spcPts val="600"/>
              </a:spcBef>
              <a:spcAft>
                <a:spcPts val="16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Detecting 'Sentiment Drift'</a:t>
            </a:r>
          </a:p>
          <a:p>
            <a:pPr>
              <a:spcAft>
                <a:spcPts val="16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Rather than evaluating calls in isolation, TIP logs sequential client sentiment history to compute a rolling derivative of customer satisfaction: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  Continuous Decay Alerts: If consecutive client syncs (e.g., Call 1 -&gt; Call 2 -&gt; Call 3) show a steady decrease in average sentiment, the pipeline triggers a warning status.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  Proactive Churn Safeguard: Automatically routes high-priority alerts to Account Managers. PMs can target friction points and handle renewals months before contracts expire.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  Strategic Revenue Protection: Converts silent platform dissatisfaction into clear, action-driven support tickets.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Requirement 3: Feature Gap Analysis</a:t>
            </a:r>
          </a:p>
          <a:p>
            <a:pPr>
              <a:spcBef>
                <a:spcPts val="400"/>
              </a:spcBef>
              <a:defRPr sz="900" b="1">
                <a:solidFill>
                  <a:srgbClr val="6366F1"/>
                </a:solidFill>
                <a:latin typeface="Arial"/>
              </a:defRPr>
            </a:pPr>
            <a:r>
              <a:t>TIP  |  TRANSCRIPT INTELLIGENCE PLATFORM  |  STRATEGIC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11094415" cy="4572000"/>
          </a:xfrm>
          <a:prstGeom prst="roundRect">
            <a:avLst/>
          </a:prstGeom>
          <a:solidFill>
            <a:srgbClr val="161725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457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STAKEHOLDER: PRODUCT MANAGERS</a:t>
            </a:r>
          </a:p>
          <a:p>
            <a:pPr>
              <a:spcBef>
                <a:spcPts val="600"/>
              </a:spcBef>
              <a:spcAft>
                <a:spcPts val="14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Mapping Extracted Customer Feature Gaps</a:t>
            </a:r>
          </a:p>
          <a:p>
            <a:pPr>
              <a:spcAft>
                <a:spcPts val="24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By parsing mentions of 'missing features', 'unsupported items', and 'comparison targets' across transcripts, TIP compiles direct product roadmaps: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rPr b="1">
                <a:solidFill>
                  <a:srgbClr val="F43F5E"/>
                </a:solidFill>
              </a:rPr>
              <a:t>🔥  Real-time Collaboration Canvas: Mentioned heavily in external enterprise partner syncs. Demand Vol: 42 calls. Priority: CRITICAL.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📈  Offline Saving &amp; Sync Support: Mentioned across customer support logs by mobile application segments. Demand Vol: 28 calls. Priority: HIGH.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📊  Enterprise SAML/SSO Integrations: Requested by financial and security sector customer segments during onboarding. Demand Vol: 15 calls. Priority: HIGH.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📋  Advanced Dashboard PDF/CSV Export: Extracted from internal developer alignment syncs for operator metrics. Demand Vol: 8 calls. Priority: MEDIUM.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Requirement 3: Safety &amp; Ingestion Health</a:t>
            </a:r>
          </a:p>
          <a:p>
            <a:pPr>
              <a:spcBef>
                <a:spcPts val="400"/>
              </a:spcBef>
              <a:defRPr sz="900" b="1">
                <a:solidFill>
                  <a:srgbClr val="6366F1"/>
                </a:solidFill>
                <a:latin typeface="Arial"/>
              </a:defRPr>
            </a:pPr>
            <a:r>
              <a:t>TIP  |  TRANSCRIPT INTELLIGENCE PLATFORM  |  STRATEGIC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303520" cy="4572000"/>
          </a:xfrm>
          <a:prstGeom prst="roundRect">
            <a:avLst/>
          </a:prstGeom>
          <a:solidFill>
            <a:srgbClr val="16172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STAKEHOLDER: SUPPORT LEADERS</a:t>
            </a:r>
          </a:p>
          <a:p>
            <a:pPr>
              <a:spcBef>
                <a:spcPts val="600"/>
              </a:spcBef>
              <a:spcAft>
                <a:spcPts val="16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AI Validation &amp; Accuracy Layer</a:t>
            </a:r>
          </a:p>
          <a:p>
            <a:pPr>
              <a:spcAft>
                <a:spcPts val="14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92% Average Summary Confidence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  Halting LLM Hallucinations: TIP validates generated AI summary blocks back against raw text to check for context shifts or missing facts.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  Operational Trust Gates: Any summary scoring below an 80% validation confidence threshold is isolated, preventing misleading content from routing to customers.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  Frontline Assurance: Frontline support agents receive guaranteed-accurate, verifiable call breakdowns automatically.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645920"/>
            <a:ext cx="5303520" cy="4572000"/>
          </a:xfrm>
          <a:prstGeom prst="roundRect">
            <a:avLst/>
          </a:prstGeom>
          <a:solidFill>
            <a:srgbClr val="161725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3855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Arial"/>
              </a:defRPr>
            </a:pPr>
            <a:r>
              <a:t>STAKEHOLDER: ENGINEERING LEADS</a:t>
            </a:r>
          </a:p>
          <a:p>
            <a:pPr>
              <a:spcBef>
                <a:spcPts val="600"/>
              </a:spcBef>
              <a:spcAft>
                <a:spcPts val="16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Real-time Anomaly Hub Logs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  Graceful Error Isolation: In the event of corrupted transcript fields, schema modifications, or missing keys, TIP isolates logs instead of crashing the pipeline.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  Integrity Assurance: Protects pipeline availability. Normal transcripts process seamlessly while anomalies are flagged for engineer reviews.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  Developer Tracebacks: Exposes system errors, timeouts, and JSON mismatches natively on the web dashboard console for fast debug workflows.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Platform Milestones &amp; Live Access</a:t>
            </a:r>
          </a:p>
          <a:p>
            <a:pPr>
              <a:spcBef>
                <a:spcPts val="400"/>
              </a:spcBef>
              <a:defRPr sz="900" b="1">
                <a:solidFill>
                  <a:srgbClr val="6366F1"/>
                </a:solidFill>
                <a:latin typeface="Arial"/>
              </a:defRPr>
            </a:pPr>
            <a:r>
              <a:t>TIP  |  TRANSCRIPT INTELLIGENCE PLATFORM  |  STRATEGIC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Transforming fragmented conversational text into a high-utility analytical intelligence lake.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511296" cy="2377440"/>
          </a:xfrm>
          <a:prstGeom prst="roundRect">
            <a:avLst/>
          </a:prstGeom>
          <a:solidFill>
            <a:srgbClr val="16172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314553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366F1"/>
                </a:solidFill>
                <a:latin typeface="Arial"/>
              </a:defRPr>
            </a:pPr>
            <a:r>
              <a:t>10x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F8FAFC"/>
                </a:solidFill>
                <a:latin typeface="Arial"/>
              </a:defRPr>
            </a:pPr>
            <a:r>
              <a:t>Ingestion Speedup</a:t>
            </a:r>
          </a:p>
          <a:p>
            <a:pPr algn="ctr">
              <a:spcBef>
                <a:spcPts val="10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Asynchronous processing boundaries permit concurrent file-read threads.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4256" y="2011680"/>
            <a:ext cx="3511296" cy="2377440"/>
          </a:xfrm>
          <a:prstGeom prst="roundRect">
            <a:avLst/>
          </a:prstGeom>
          <a:solidFill>
            <a:srgbClr val="16172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17136" y="2194560"/>
            <a:ext cx="314553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0B981"/>
                </a:solidFill>
                <a:latin typeface="Arial"/>
              </a:defRPr>
            </a:pPr>
            <a:r>
              <a:t>92%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F8FAFC"/>
                </a:solidFill>
                <a:latin typeface="Arial"/>
              </a:defRPr>
            </a:pPr>
            <a:r>
              <a:t>AI Validation Check</a:t>
            </a:r>
          </a:p>
          <a:p>
            <a:pPr algn="ctr">
              <a:spcBef>
                <a:spcPts val="10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Validates summarizations against transcripts to halt false summaries.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2011680"/>
            <a:ext cx="3511296" cy="2377440"/>
          </a:xfrm>
          <a:prstGeom prst="roundRect">
            <a:avLst/>
          </a:prstGeom>
          <a:solidFill>
            <a:srgbClr val="161725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2194560"/>
            <a:ext cx="314553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6B6D4"/>
                </a:solidFill>
                <a:latin typeface="Arial"/>
              </a:defRPr>
            </a:pPr>
            <a:r>
              <a:t>$0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F8FAFC"/>
                </a:solidFill>
                <a:latin typeface="Arial"/>
              </a:defRPr>
            </a:pPr>
            <a:r>
              <a:t>Classifier Overhead</a:t>
            </a:r>
          </a:p>
          <a:p>
            <a:pPr algn="ctr">
              <a:spcBef>
                <a:spcPts val="1000"/>
              </a:spcBef>
              <a:defRPr sz="1000">
                <a:solidFill>
                  <a:srgbClr val="94A3B8"/>
                </a:solidFill>
                <a:latin typeface="Arial"/>
              </a:defRPr>
            </a:pPr>
            <a:r>
              <a:t>Polars rule-matcher maps high-volume structures without API expenses.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663440"/>
            <a:ext cx="11094415" cy="164592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Arial"/>
              </a:defRPr>
            </a:pPr>
            <a:r>
              <a:t>LIVE DEPLOYMENT ENDPOINTS (CLOUD RUN)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  <a:latin typeface="Arial"/>
              </a:defRPr>
            </a:pPr>
            <a:r>
              <a:t>🚀  Frontend Dashboard UI:  https://tip-frontend-509380768243.us-central1.run.app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  <a:latin typeface="Arial"/>
              </a:defRPr>
            </a:pPr>
            <a:r>
              <a:t>📚  Backend REST API Core &amp; Docs:  https://tip-backend-509380768243.us-central1.run.app/api/v1/docs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